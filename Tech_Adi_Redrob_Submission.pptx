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02729"/>
                </a:solidFill>
              </a:rPr>
              <a:t>Tech Adi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02729"/>
                </a:solidFill>
              </a:rPr>
              <a:t>Intelligent Candidate Discovery — rank 100K candidate profiles against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/>
            <a:r>
              <a:rPr sz="1400" b="0">
                <a:solidFill>
                  <a:srgbClr val="202729"/>
                </a:solidFill>
              </a:rPr>
              <a:t>a Senior AI Engineer job description using a trust-based ranking engine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02729"/>
                </a:solidFill>
              </a:rPr>
              <a:t>Aditya Nadamuni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0">
                <a:solidFill>
                  <a:srgbClr val="202729"/>
                </a:solidFill>
              </a:rPr>
              <a:t>• Hybrid rule-based ranking engine — scores 100K candidates in ~30s on CPU, zero GPU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/>
            <a:r>
              <a:rPr sz="1200" b="0">
                <a:solidFill>
                  <a:srgbClr val="202729"/>
                </a:solidFill>
              </a:rPr>
              <a:t>• 6 weighted signals combined into a single composite score:</a:t>
            </a:r>
          </a:p>
          <a:p>
            <a:pPr lvl="1"/>
            <a:r>
              <a:rPr sz="1200" b="0">
                <a:solidFill>
                  <a:srgbClr val="202729"/>
                </a:solidFill>
              </a:rPr>
              <a:t>Title + Career history relevance  (35%)</a:t>
            </a:r>
          </a:p>
          <a:p>
            <a:pPr lvl="1"/>
            <a:r>
              <a:rPr sz="1200" b="0">
                <a:solidFill>
                  <a:srgbClr val="202729"/>
                </a:solidFill>
              </a:rPr>
              <a:t>Skill Trust score  (20%)</a:t>
            </a:r>
          </a:p>
          <a:p>
            <a:pPr lvl="1"/>
            <a:r>
              <a:rPr sz="1200" b="0">
                <a:solidFill>
                  <a:srgbClr val="202729"/>
                </a:solidFill>
              </a:rPr>
              <a:t>Behavioral / platform engagement  (20%)</a:t>
            </a:r>
          </a:p>
          <a:p>
            <a:pPr lvl="1"/>
            <a:r>
              <a:rPr sz="1200" b="0">
                <a:solidFill>
                  <a:srgbClr val="202729"/>
                </a:solidFill>
              </a:rPr>
              <a:t>Experience fit  (10%)</a:t>
            </a:r>
          </a:p>
          <a:p>
            <a:pPr lvl="1"/>
            <a:r>
              <a:rPr sz="1200" b="0">
                <a:solidFill>
                  <a:srgbClr val="202729"/>
                </a:solidFill>
              </a:rPr>
              <a:t>Availability  (10%)</a:t>
            </a:r>
          </a:p>
          <a:p>
            <a:pPr lvl="1"/>
            <a:r>
              <a:rPr sz="1200" b="0">
                <a:solidFill>
                  <a:srgbClr val="202729"/>
                </a:solidFill>
              </a:rPr>
              <a:t>Education tier  (5%)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What differentiates us from keyword matching?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Skill TRUST = proficiency × endorsements × duration — not raw keyword count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Title + career descriptions are the decisive signal, not the skills section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Three-rule honeypot detector catches expert-stuffing, YoE inflation, &amp; ghost endorsements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Fully explainable: every ranked candidate gets a natural-language reasoning string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800" b="1">
                <a:solidFill>
                  <a:srgbClr val="202729"/>
                </a:solidFill>
              </a:rPr>
              <a:t>JD Understanding &amp; Candidate Evaluation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65760" y="1188720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5278" marL="457200" rtl="0"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000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Key JD Requirements: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Role: </a:t>
            </a:r>
            <a:r>
              <a:rPr sz="1050">
                <a:latin typeface="Arial"/>
              </a:rPr>
              <a:t>Senior AI Engineer (Search, RAG, Recommendation)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Experience: </a:t>
            </a:r>
            <a:r>
              <a:rPr sz="1050">
                <a:latin typeface="Arial"/>
              </a:rPr>
              <a:t>5–9 years of hands-on ML engineering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Core Stack: </a:t>
            </a:r>
            <a:r>
              <a:rPr sz="1050">
                <a:latin typeface="Arial"/>
              </a:rPr>
              <a:t>Python, PyTorch, Sentence-Transformers, Vector DBs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Skills: </a:t>
            </a:r>
            <a:r>
              <a:rPr sz="1050">
                <a:latin typeface="Arial"/>
              </a:rPr>
              <a:t>Fine-tuning, RAG pipelines, A/B testing, latency optimization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Intelligent Signal Fusion: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Title &amp; Career (35%): </a:t>
            </a:r>
            <a:r>
              <a:rPr sz="1050">
                <a:latin typeface="Arial"/>
              </a:rPr>
              <a:t>Measures real depth. Includes a 0.5× consulting firm penalty (e.g., TCS/Infosys) to filter out non-product roles.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Skill Trust (20%): </a:t>
            </a:r>
            <a:r>
              <a:rPr sz="1050">
                <a:latin typeface="Arial"/>
              </a:rPr>
              <a:t>Evaluates proficiency, endorsements, and duration. Tier-1 skills (e.g., Vector Search) receive 2.0× weight.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Behavioral (20%): </a:t>
            </a:r>
            <a:r>
              <a:rPr sz="1050">
                <a:latin typeface="Arial"/>
              </a:rPr>
              <a:t>Evaluates recruiter response (35%), interview completion (30%), recency (20%), and GitHub activity (15%).</a:t>
            </a:r>
          </a:p>
        </p:txBody>
      </p:sp>
      <p:pic>
        <p:nvPicPr>
          <p:cNvPr id="72" name="auto_image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9" y="11887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65760" y="1188720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5278" marL="457200" rtl="0"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Pipeline Workflow: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1. Stream: </a:t>
            </a:r>
            <a:r>
              <a:rPr sz="1050">
                <a:latin typeface="Arial"/>
              </a:rPr>
              <a:t>Process 100K candidates line-by-line from JSONL.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2. Score: </a:t>
            </a:r>
            <a:r>
              <a:rPr sz="1050">
                <a:latin typeface="Arial"/>
              </a:rPr>
              <a:t>Apply 6 sub-scorers + Honeypot check.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3. Rank: </a:t>
            </a:r>
            <a:r>
              <a:rPr sz="1050">
                <a:latin typeface="Arial"/>
              </a:rPr>
              <a:t>Sort by score (descending), tie-break by ID, slice top 100.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Composite Scoring Formula: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Formula: </a:t>
            </a:r>
            <a:r>
              <a:rPr sz="1050">
                <a:latin typeface="Arial"/>
              </a:rPr>
              <a:t>Score = (0.35 × Title_Career + 0.20 × Skill_Trust + 0.20 × Behavioral + 0.10 × Experience + 0.10 × Availability + 0.05 × Education) × Honeypot_Multiplier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Targeting the Experience Sweet Spot (5–9 Years):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Curve: </a:t>
            </a:r>
            <a:r>
              <a:rPr sz="1050">
                <a:latin typeface="Arial"/>
              </a:rPr>
              <a:t>&lt;2 yrs: scaled 0.0–0.3 | 2–5 yrs: linear ramp to 0.8 | 5–9 yrs: peak 0.8–1.0 (centered at 7 yrs) | &gt;9 yrs: gentle decay to 0.4 floor.</a:t>
            </a:r>
          </a:p>
        </p:txBody>
      </p:sp>
      <p:pic>
        <p:nvPicPr>
          <p:cNvPr id="79" name="auto_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907507"/>
            <a:ext cx="3657600" cy="2037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65760" y="1188720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5278" marL="457200" rtl="0"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000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Deterministic Reasoning (No LLMs):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Programmatic Explanations: </a:t>
            </a:r>
            <a:r>
              <a:rPr sz="1050">
                <a:latin typeface="Arial"/>
              </a:rPr>
              <a:t>Every candidate receives a natural-language reasoning string generated from actual score components.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Zero Hallucinations: </a:t>
            </a:r>
            <a:r>
              <a:rPr sz="1050">
                <a:latin typeface="Arial"/>
              </a:rPr>
              <a:t>100% deterministic, matching the underlying structured profile data (no LLM latency or API costs).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Example: </a:t>
            </a:r>
            <a:r>
              <a:rPr sz="1050">
                <a:latin typeface="Arial"/>
              </a:rPr>
              <a:t>"Staff ML Engineer with 7.0 yrs; strong AI/ML background; strong retrieval skill stack with endorsements; high recruiter engagement (95%); actively seeking."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Anti-Cheat Honeypot Shield: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Penalty: </a:t>
            </a:r>
            <a:r>
              <a:rPr sz="1050">
                <a:latin typeface="Arial"/>
              </a:rPr>
              <a:t>Multiplies the final score by 0.05 if any pattern is triggered: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1. Skill Stuffing: </a:t>
            </a:r>
            <a:r>
              <a:rPr sz="1050">
                <a:latin typeface="Arial"/>
              </a:rPr>
              <a:t>≥4 'expert' skills with 0 endorsements &amp; 0 duration.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2. YoE Inflation: </a:t>
            </a:r>
            <a:r>
              <a:rPr sz="1050">
                <a:latin typeface="Arial"/>
              </a:rPr>
              <a:t>Claimed YoE &gt; 2.5× the sum of career history.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3. Ghost Endorsements: </a:t>
            </a:r>
            <a:r>
              <a:rPr sz="1050">
                <a:latin typeface="Arial"/>
              </a:rPr>
              <a:t>&gt;12 skills with exactly 0 average endorsements.</a:t>
            </a:r>
          </a:p>
        </p:txBody>
      </p:sp>
      <p:pic>
        <p:nvPicPr>
          <p:cNvPr id="86" name="auto_image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9" y="11887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0">
                <a:solidFill>
                  <a:srgbClr val="202729"/>
                </a:solidFill>
              </a:rPr>
              <a:t>Command: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/>
            <a:r>
              <a:rPr sz="1200" b="0">
                <a:solidFill>
                  <a:srgbClr val="202729"/>
                </a:solidFill>
              </a:rPr>
              <a:t>  python rank.py --candidates ./candidates.jsonl --out ./submission.csv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Step-by-step flow: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1. rank.py parses CLI args, calls rank_candidates(path, top_n=100)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2. utils.load_candidates() streams JSONL line-by-line (memory-efficient)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3. For each of 100K candidates: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 a. detect_honeypot() → returns 1.0 or 0.05 multiplier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 b. 6 sub-scorers run in sequence (title_career, skill_trust, behavioral,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    experience, availability, education)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 c. Composite score computed and appended to all_scores list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4. all_scores sorted; top 100 sliced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5. generate_reasoning() builds natural-language string for each ranked candidate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6. Results written as CSV (columns: candidate_id, rank, score, reasoning)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7. validate_submission.py confirms format, ordering, and uniqueness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Total runtime: ~30 seconds  |  CPU only  |  No network  |  No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99" name="auto_image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28016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65760" y="1188720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5278" marL="457200" rtl="0"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Clr>
                <a:srgbClr val="7D45E0"/>
              </a:buClr>
              <a:buSzPts val="1365"/>
              <a:buFont typeface="Manrope SemiBold"/>
              <a:buChar char="●"/>
              <a:defRPr sz="1100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Ranking Quality Insights: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Rank 1: </a:t>
            </a:r>
            <a:r>
              <a:rPr sz="1050">
                <a:latin typeface="Arial"/>
              </a:rPr>
              <a:t>Staff ML Engineer (7.0 YoE) — Score: 0.9553 (verified retrieval/RAG stack, 95% recruiter response)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Rank 100: </a:t>
            </a:r>
            <a:r>
              <a:rPr sz="1050">
                <a:latin typeface="Arial"/>
              </a:rPr>
              <a:t>ML Engineer (4.5 YoE) — Score: 0.8257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Score Range: </a:t>
            </a:r>
            <a:r>
              <a:rPr sz="1050">
                <a:latin typeface="Arial"/>
              </a:rPr>
              <a:t>Tight, high-quality band of 0.8257 to 0.9553.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Clean Leaderboard: </a:t>
            </a:r>
            <a:r>
              <a:rPr sz="1050">
                <a:latin typeface="Arial"/>
              </a:rPr>
              <a:t>Zero keyword-stuffed or dormant profiles.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Fraud Suppression: </a:t>
            </a:r>
            <a:r>
              <a:rPr sz="1050">
                <a:latin typeface="Arial"/>
              </a:rPr>
              <a:t>Honeypot successfully deflected all fake experts.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>
                <a:latin typeface="Arial"/>
              </a:rPr>
              <a:t>High-Performance Compute Metrics: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Execution Time: </a:t>
            </a:r>
            <a:r>
              <a:rPr sz="1050">
                <a:latin typeface="Arial"/>
              </a:rPr>
              <a:t>~30 seconds on standard CPU.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Memory footprint: </a:t>
            </a:r>
            <a:r>
              <a:rPr sz="1050">
                <a:latin typeface="Arial"/>
              </a:rPr>
              <a:t>~200 MB (efficient JSONL streaming).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Dependencies: </a:t>
            </a:r>
            <a:r>
              <a:rPr sz="1050">
                <a:latin typeface="Arial"/>
              </a:rPr>
              <a:t>No GPU, no network, 100% offline.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>
                <a:latin typeface="Arial"/>
              </a:rPr>
              <a:t>• </a:t>
            </a:r>
            <a:r>
              <a:rPr sz="1050">
                <a:latin typeface="Arial"/>
              </a:rPr>
              <a:t>Validation: </a:t>
            </a:r>
            <a:r>
              <a:rPr sz="1050">
                <a:latin typeface="Arial"/>
              </a:rPr>
              <a:t>Passed official submission validation checks.</a:t>
            </a:r>
          </a:p>
        </p:txBody>
      </p:sp>
      <p:pic>
        <p:nvPicPr>
          <p:cNvPr id="106" name="auto_imag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907507"/>
            <a:ext cx="3657600" cy="2037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0">
                <a:solidFill>
                  <a:srgbClr val="202729"/>
                </a:solidFill>
              </a:rPr>
              <a:t>Language &amp; runtime: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/>
            <a:r>
              <a:rPr sz="1200" b="0">
                <a:solidFill>
                  <a:srgbClr val="202729"/>
                </a:solidFill>
              </a:rPr>
              <a:t>• Python 3.11 — core language (no external ML libraries needed for inference)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Inference (zero dependency — ships with stdlib):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Pure Python string matching + arithmetic — deterministic, portable, offline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Output &amp; demo: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openpyxl 3.1+ — XLSX submission generation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pandas 1.5+ — CSV/XLSX formatting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Streamlit 1.58 — interactive sandbox demo with file upload &amp; CSV download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Hosting &amp; source control: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GitHub — public repo, version control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Streamlit Community Cloud — free hosted sandbox, auto-deploy on push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Why this stack?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Zero ML framework dependencies → no CUDA, no model downloads, no network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Fully deterministic → same candidates.jsonl always produces same output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• Sub-30s inference on consumer hardware → meets all challenge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GitHub Repository (public):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/>
            <a:r>
              <a:rPr sz="1200" b="0">
                <a:solidFill>
                  <a:srgbClr val="202729"/>
                </a:solidFill>
              </a:rPr>
              <a:t>  https://github.com/theAdityaNVS/redrob-candidate-ranker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Live Sandbox Demo (Streamlit Community Cloud):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https://theaditynvs-redrob-ranker.streamlit.app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— Upload any JSON/JSONL candidate file (≤100 profiles) to rank live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Ranked Output: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submission.csv   — 100 candidates, ranks 1–100, validated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submission.xlsx  — same data, Excel format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Reproduce command (≤ 5 min, CPU, no network, no GPU):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pip install -r requirements.txt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python rank.py --candidates ./candidates.jsonl --out ./submission.csv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>  python resources/validate_submission.py submission.csv</a:t>
            </a:r>
          </a:p>
          <a:p>
            <a:pPr/>
            <a:r>
              <a:rPr sz="1200" b="0">
                <a:solidFill>
                  <a:srgbClr val="202729"/>
                </a:solidFill>
              </a:rPr>
              <a:t/>
            </a:r>
          </a:p>
          <a:p>
            <a:pPr/>
            <a:r>
              <a:rPr sz="1200" b="0">
                <a:solidFill>
                  <a:srgbClr val="202729"/>
                </a:solidFill>
              </a:rPr>
              <a:t>Team: Tech Adi  |  Contact: aditya.nadamuni@gmail.com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